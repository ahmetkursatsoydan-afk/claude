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cover page / title, authors and affiliations.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 (scientific exhibit): Aims and objectives. (Educational exhibit: Aims and objectives.)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 (scientific exhibit): Aims and objectives, background paragraph. (Educational exhibit: Background.)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Methods and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Results, Table 1 and Fig.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Results, Figs. 2-3 (adenocarcinoma).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Results, Fig. 4 (squamous cell carcinoma).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Results, Figs. 5-7 (SCLC and LCNEC).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Results, Table 2 and Fig.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Conclusion (discussion part) with Fig.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EPOS: References and Personal information (declarations).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</p:spPr>
        <p:txBody>
          <a:bodyPr wrap="square" lIns="0" tIns="0" rIns="0" bIns="0" anchor="ctr">
            <a:noAutofit/>
          </a:bodyPr>
          <a:lstStyle>
            <a:lvl1pPr algn="l">
              <a:defRPr sz="3000" b="1">
                <a:solidFill>
                  <a:srgbClr val="0B1F3A"/>
                </a:solidFill>
                <a:latin typeface="Cambr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5.png"/><Relationship Id="rId2" Type="http://schemas.openxmlformats.org/officeDocument/2006/relationships/image" Target="../media/image7.png"/><Relationship Id="rId3" Type="http://schemas.openxmlformats.org/officeDocument/2006/relationships/image" Target="../media/image-6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-8-1.png"/><Relationship Id="rId7" Type="http://schemas.openxmlformats.org/officeDocument/2006/relationships/image" Target="../media/image8.png"/><Relationship Id="rId8" Type="http://schemas.openxmlformats.org/officeDocument/2006/relationships/image" Target="../media/image-7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-6-5.png"/><Relationship Id="rId8" Type="http://schemas.openxmlformats.org/officeDocument/2006/relationships/image" Target="../media/image-9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image" Target="../media/image-7-1.png"/><Relationship Id="rId4" Type="http://schemas.openxmlformats.org/officeDocument/2006/relationships/image" Target="../media/image14.png"/><Relationship Id="rId5" Type="http://schemas.openxmlformats.org/officeDocument/2006/relationships/image" Target="../media/image-9-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2.png"/><Relationship Id="rId3" Type="http://schemas.openxmlformats.org/officeDocument/2006/relationships/image" Target="../media/image-8-1.png"/><Relationship Id="rId4" Type="http://schemas.openxmlformats.org/officeDocument/2006/relationships/image" Target="../media/image-9-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-8-5.png"/><Relationship Id="rId8" Type="http://schemas.openxmlformats.org/officeDocument/2006/relationships/image" Target="../media/image-10-1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8.png"/><Relationship Id="rId12" Type="http://schemas.openxmlformats.org/officeDocument/2006/relationships/image" Target="../media/image-9-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4.png"/><Relationship Id="rId2" Type="http://schemas.openxmlformats.org/officeDocument/2006/relationships/image" Target="../media/image-9-3.png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3.png"/><Relationship Id="rId2" Type="http://schemas.openxmlformats.org/officeDocument/2006/relationships/image" Target="../media/image-9-2.png"/><Relationship Id="rId3" Type="http://schemas.openxmlformats.org/officeDocument/2006/relationships/image" Target="../media/image-9-4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502920"/>
            <a:ext cx="667512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Lung to Brain:</a:t>
            </a:r>
            <a:endParaRPr lang="en-GB" sz="3600" dirty="0"/>
          </a:p>
          <a:p>
            <a:pPr marL="0" indent="0">
              <a:spcBef>
                <a:spcPts val="1000"/>
              </a:spcBef>
              <a:buNone/>
            </a:pPr>
            <a:r>
              <a:rPr lang="en-GB" sz="2400" b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Chest CT Tumour Characteristics with Brain MRI Metastatic Patterns in Adenocarcinoma, Squamous Cell, Small Cell and Neuroendocrine Lung Cancer</a:t>
            </a:r>
            <a:endParaRPr lang="en-GB" sz="2400" dirty="0"/>
          </a:p>
        </p:txBody>
      </p:sp>
      <p:sp>
        <p:nvSpPr>
          <p:cNvPr id="3" name="Authors and affiliations"/>
          <p:cNvSpPr txBox="1"/>
          <p:nvPr/>
        </p:nvSpPr>
        <p:spPr>
          <a:xfrm>
            <a:off x="457200" y="329184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[First Name Surname]¹, [Co-author]¹, [Co-author]²</a:t>
            </a:r>
            <a:endParaRPr lang="en-GB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GB" sz="1500" b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[Department of Radiology, University / Hospital, Istanbul, Türkiye]   ² [Department of Thoracic Oncology / Neurosurgery]</a:t>
            </a:r>
            <a:endParaRPr lang="en-GB" sz="1500" dirty="0"/>
          </a:p>
          <a:p>
            <a:pPr marL="0" indent="0">
              <a:buNone/>
            </a:pPr>
            <a:r>
              <a:rPr lang="en-GB" sz="1500" b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author: [email]</a:t>
            </a:r>
            <a:endParaRPr lang="en-GB" sz="1500" dirty="0"/>
          </a:p>
        </p:txBody>
      </p:sp>
      <p:sp>
        <p:nvSpPr>
          <p:cNvPr id="4" name="Keywords"/>
          <p:cNvSpPr txBox="1"/>
          <p:nvPr/>
        </p:nvSpPr>
        <p:spPr>
          <a:xfrm>
            <a:off x="457200" y="484632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300" b="0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brain metastases · lung cancer · adenocarcinoma · squamous cell · SCLC · MRI · CT</a:t>
            </a:r>
            <a:endParaRPr lang="en-GB" sz="1300" dirty="0"/>
          </a:p>
        </p:txBody>
      </p:sp>
      <p:sp>
        <p:nvSpPr>
          <p:cNvPr id="5" name="Ethics statement"/>
          <p:cNvSpPr txBox="1"/>
          <p:nvPr/>
        </p:nvSpPr>
        <p:spPr>
          <a:xfrm>
            <a:off x="457200" y="5989320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committee approval and written patient consent for scientific publication obtained.</a:t>
            </a:r>
            <a:endParaRPr lang="en-GB" sz="1200" dirty="0"/>
          </a:p>
        </p:txBody>
      </p:sp>
      <p:pic>
        <p:nvPicPr>
          <p:cNvPr id="6" name="Figure clean/S1_CT" descr="SCLC-2, axial chest CT, lung window (no annotation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48640"/>
            <a:ext cx="1783080" cy="1783080"/>
          </a:xfrm>
          <a:prstGeom prst="rect">
            <a:avLst/>
          </a:prstGeom>
        </p:spPr>
      </p:pic>
      <p:pic>
        <p:nvPicPr>
          <p:cNvPr id="7" name="Figure clean/S1_T1C" descr="SCLC-2, axial T1 post-contrast MRI (no annotation)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423160"/>
            <a:ext cx="1783080" cy="1783080"/>
          </a:xfrm>
          <a:prstGeom prst="rect">
            <a:avLst/>
          </a:prstGeom>
        </p:spPr>
      </p:pic>
      <p:pic>
        <p:nvPicPr>
          <p:cNvPr id="8" name="Figure clean/S1_FLAIR" descr="SCLC-2, axial FLAIR MRI (no annotation)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4297680"/>
            <a:ext cx="1783080" cy="1783080"/>
          </a:xfrm>
          <a:prstGeom prst="rect">
            <a:avLst/>
          </a:prstGeom>
        </p:spPr>
      </p:pic>
      <p:pic>
        <p:nvPicPr>
          <p:cNvPr id="9" name="Figure clean/A2_CT" descr="ADC-2, coronal chest CT, lung window (no annotation)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548640"/>
            <a:ext cx="1783080" cy="1783080"/>
          </a:xfrm>
          <a:prstGeom prst="rect">
            <a:avLst/>
          </a:prstGeom>
        </p:spPr>
      </p:pic>
      <p:pic>
        <p:nvPicPr>
          <p:cNvPr id="10" name="Figure clean/A2_T1C" descr="ADC-2, axial T1 post-contrast MRI (no annotation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423160"/>
            <a:ext cx="1783080" cy="1783080"/>
          </a:xfrm>
          <a:prstGeom prst="rect">
            <a:avLst/>
          </a:prstGeom>
        </p:spPr>
      </p:pic>
      <p:pic>
        <p:nvPicPr>
          <p:cNvPr id="11" name="Figure clean/A2_FLAIR" descr="ADC-2, axial FLAIR MRI (no annotation)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4297680"/>
            <a:ext cx="1783080" cy="1783080"/>
          </a:xfrm>
          <a:prstGeom prst="rect">
            <a:avLst/>
          </a:prstGeom>
        </p:spPr>
      </p:pic>
      <p:sp>
        <p:nvSpPr>
          <p:cNvPr id="12" name="Figure caption"/>
          <p:cNvSpPr txBox="1"/>
          <p:nvPr/>
        </p:nvSpPr>
        <p:spPr>
          <a:xfrm>
            <a:off x="7589520" y="6172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100" b="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CT · T1+C · FLAIR (SCLC, left; adenocarcinoma, right)</a:t>
            </a:r>
            <a:endParaRPr lang="en-GB" sz="1100" dirty="0"/>
          </a:p>
        </p:txBody>
      </p:sp>
      <p:sp>
        <p:nvSpPr>
          <p:cNvPr id="13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1/12</a:t>
            </a:r>
            <a:endParaRPr lang="en-GB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Objectives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4" name="Aim"/>
          <p:cNvSpPr txBox="1"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2200" b="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illustrate how brain MRI features of metastases vary with the histological subtype of the primary lung cancer.</a:t>
            </a:r>
            <a:endParaRPr lang="en-GB" sz="2200" dirty="0"/>
          </a:p>
        </p:txBody>
      </p:sp>
      <p:sp>
        <p:nvSpPr>
          <p:cNvPr id="5" name="Objective number 1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1C7293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GB" sz="1800" dirty="0"/>
          </a:p>
        </p:txBody>
      </p:sp>
      <p:sp>
        <p:nvSpPr>
          <p:cNvPr id="6" name="Objective 1"/>
          <p:cNvSpPr txBox="1"/>
          <p:nvPr/>
        </p:nvSpPr>
        <p:spPr>
          <a:xfrm>
            <a:off x="1280160" y="224028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chest CT appearance of adenocarcinoma, squamous cell, small cell and large cell neuroendocrine carcinoma.</a:t>
            </a:r>
            <a:endParaRPr lang="en-GB" sz="1700" dirty="0"/>
          </a:p>
        </p:txBody>
      </p:sp>
      <p:sp>
        <p:nvSpPr>
          <p:cNvPr id="7" name="Objective number 2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1C7293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GB" sz="1800" dirty="0"/>
          </a:p>
        </p:txBody>
      </p:sp>
      <p:sp>
        <p:nvSpPr>
          <p:cNvPr id="8" name="Objective 2"/>
          <p:cNvSpPr txBox="1"/>
          <p:nvPr/>
        </p:nvSpPr>
        <p:spPr>
          <a:xfrm>
            <a:off x="1280160" y="303580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multi-sequence MRI patterns (T1+C, T2/FLAIR, DWI) of the associated brain metastases.</a:t>
            </a:r>
            <a:endParaRPr lang="en-GB" sz="1700" dirty="0"/>
          </a:p>
        </p:txBody>
      </p:sp>
      <p:sp>
        <p:nvSpPr>
          <p:cNvPr id="9" name="Objective number 3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1C7293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GB" sz="1800" dirty="0"/>
          </a:p>
        </p:txBody>
      </p:sp>
      <p:sp>
        <p:nvSpPr>
          <p:cNvPr id="10" name="Objective 3"/>
          <p:cNvSpPr txBox="1"/>
          <p:nvPr/>
        </p:nvSpPr>
        <p:spPr>
          <a:xfrm>
            <a:off x="1280160" y="3831336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number, location, enhancement, oedema and diffusion behaviour between subtypes.</a:t>
            </a:r>
            <a:endParaRPr lang="en-GB" sz="1700" dirty="0"/>
          </a:p>
        </p:txBody>
      </p:sp>
      <p:sp>
        <p:nvSpPr>
          <p:cNvPr id="11" name="Objective number 4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1C7293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GB" sz="1800" dirty="0"/>
          </a:p>
        </p:txBody>
      </p:sp>
      <p:sp>
        <p:nvSpPr>
          <p:cNvPr id="12" name="Objective 4"/>
          <p:cNvSpPr txBox="1"/>
          <p:nvPr/>
        </p:nvSpPr>
        <p:spPr>
          <a:xfrm>
            <a:off x="1280160" y="4626864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mimics and pitfalls, e.g. an incidental meningioma alongside metastases.</a:t>
            </a:r>
            <a:endParaRPr lang="en-GB" sz="1700" dirty="0"/>
          </a:p>
        </p:txBody>
      </p:sp>
      <p:sp>
        <p:nvSpPr>
          <p:cNvPr id="13" name="Objective number 5"/>
          <p:cNvSpPr/>
          <p:nvPr/>
        </p:nvSpPr>
        <p:spPr>
          <a:xfrm>
            <a:off x="548640" y="5468112"/>
            <a:ext cx="502920" cy="502920"/>
          </a:xfrm>
          <a:prstGeom prst="ellipse">
            <a:avLst/>
          </a:prstGeom>
          <a:solidFill>
            <a:srgbClr val="1C7293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GB" sz="1800" dirty="0"/>
          </a:p>
        </p:txBody>
      </p:sp>
      <p:sp>
        <p:nvSpPr>
          <p:cNvPr id="14" name="Objective 5"/>
          <p:cNvSpPr txBox="1"/>
          <p:nvPr/>
        </p:nvSpPr>
        <p:spPr>
          <a:xfrm>
            <a:off x="1280160" y="5422392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imaging supports staging, PCI/SRS decisions and follow-up.</a:t>
            </a:r>
            <a:endParaRPr lang="en-GB" sz="1700" dirty="0"/>
          </a:p>
        </p:txBody>
      </p:sp>
      <p:sp>
        <p:nvSpPr>
          <p:cNvPr id="15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2/12</a:t>
            </a:r>
            <a:endParaRPr lang="en-GB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Clinical Background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4" name="Background text"/>
          <p:cNvSpPr txBox="1"/>
          <p:nvPr/>
        </p:nvSpPr>
        <p:spPr>
          <a:xfrm>
            <a:off x="457200" y="1280160"/>
            <a:ext cx="6949440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is the leading source of brain metastases (BM), about 40–50% of all BM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70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BM risk is higher in small cell lung cancer (SCLC) than in non-small cell lung cancer (NSCLC)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GB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Histology shapes risk and behaviour</a:t>
            </a:r>
            <a:endParaRPr lang="en-GB" sz="170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commonest NSCLC subtype with BM; risk increased with EGFR/ALK alterations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70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SCLC: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highly proliferative; frequent BM; MRI surveillance and prophylactic cranial irradiation (PCI) are debated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[5,6]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70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Squamous cell carcinoma: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BM less frequent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primaries often central, cavitating or necrotic.</a:t>
            </a:r>
            <a:endParaRPr lang="en-GB" sz="170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LCNEC: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large cell neuroendocrine carcinoma, biologically closer to SCLC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70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 MRI is the most sensitive modality; lesion number, size and site decide surgery, stereotactic radiosurgery (SRS) or whole-brain radiotherapy (WBRT) </a:t>
            </a:r>
            <a:r>
              <a:rPr lang="en-GB" sz="17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[6,7]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700" dirty="0"/>
          </a:p>
        </p:txBody>
      </p:sp>
      <p:sp>
        <p:nvSpPr>
          <p:cNvPr id="5" name="Flow step 1"/>
          <p:cNvSpPr/>
          <p:nvPr/>
        </p:nvSpPr>
        <p:spPr>
          <a:xfrm>
            <a:off x="8001000" y="1463040"/>
            <a:ext cx="3703320" cy="1051560"/>
          </a:xfrm>
          <a:prstGeom prst="roundRect">
            <a:avLst/>
          </a:prstGeom>
          <a:solidFill>
            <a:srgbClr val="1C7293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buNone/>
            </a:pPr>
            <a:r>
              <a:rPr lang="en-GB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lung tumour</a:t>
            </a:r>
            <a:endParaRPr lang="en-GB" sz="1700" dirty="0"/>
          </a:p>
          <a:p>
            <a:pPr algn="ctr" marL="0" indent="0">
              <a:buNone/>
            </a:pPr>
            <a:r>
              <a:rPr lang="en-GB" sz="12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CT: histology-related morphology</a:t>
            </a:r>
            <a:endParaRPr lang="en-GB" sz="1250" dirty="0"/>
          </a:p>
        </p:txBody>
      </p:sp>
      <p:sp>
        <p:nvSpPr>
          <p:cNvPr id="6" name="Flow step 2"/>
          <p:cNvSpPr/>
          <p:nvPr/>
        </p:nvSpPr>
        <p:spPr>
          <a:xfrm>
            <a:off x="8001000" y="3063240"/>
            <a:ext cx="3703320" cy="1051560"/>
          </a:xfrm>
          <a:prstGeom prst="roundRect">
            <a:avLst/>
          </a:prstGeom>
          <a:solidFill>
            <a:srgbClr val="F4F7FB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buNone/>
            </a:pPr>
            <a:r>
              <a:rPr lang="en-GB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Haematogenous spread</a:t>
            </a:r>
            <a:endParaRPr lang="en-GB" sz="1700" dirty="0"/>
          </a:p>
        </p:txBody>
      </p:sp>
      <p:sp>
        <p:nvSpPr>
          <p:cNvPr id="7" name="Flow step 3"/>
          <p:cNvSpPr/>
          <p:nvPr/>
        </p:nvSpPr>
        <p:spPr>
          <a:xfrm>
            <a:off x="8001000" y="4663440"/>
            <a:ext cx="3703320" cy="1051560"/>
          </a:xfrm>
          <a:prstGeom prst="roundRect">
            <a:avLst/>
          </a:prstGeom>
          <a:solidFill>
            <a:srgbClr val="0B1F3A"/>
          </a:solidFill>
          <a:ln w="12700" cap="rnd">
            <a:solidFill>
              <a:srgbClr val="1C7293"/>
            </a:solidFill>
            <a:prstDash val="solid"/>
            <a:round/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ctr" marL="0" indent="0">
              <a:buNone/>
            </a:pPr>
            <a:r>
              <a:rPr lang="en-GB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GB" sz="1700" dirty="0"/>
          </a:p>
          <a:p>
            <a:pPr algn="ctr" marL="0" indent="0">
              <a:buNone/>
            </a:pPr>
            <a:r>
              <a:rPr lang="en-GB" sz="12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Grey–white junction · watershed · cerebellum</a:t>
            </a:r>
            <a:endParaRPr lang="en-GB" sz="1250" dirty="0"/>
          </a:p>
        </p:txBody>
      </p:sp>
      <p:sp>
        <p:nvSpPr>
          <p:cNvPr id="8" name="Flow arrow"/>
          <p:cNvSpPr/>
          <p:nvPr/>
        </p:nvSpPr>
        <p:spPr>
          <a:xfrm>
            <a:off x="9601200" y="2532888"/>
            <a:ext cx="457200" cy="475488"/>
          </a:xfrm>
          <a:prstGeom prst="downArrow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9" name="Flow arrow"/>
          <p:cNvSpPr/>
          <p:nvPr/>
        </p:nvSpPr>
        <p:spPr>
          <a:xfrm>
            <a:off x="9601200" y="4133088"/>
            <a:ext cx="457200" cy="475488"/>
          </a:xfrm>
          <a:prstGeom prst="downArrow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10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3/12</a:t>
            </a:r>
            <a:endParaRPr lang="en-GB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&amp; Methods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4" name="Method step 1"/>
          <p:cNvSpPr/>
          <p:nvPr/>
        </p:nvSpPr>
        <p:spPr>
          <a:xfrm>
            <a:off x="457200" y="1280160"/>
            <a:ext cx="2651760" cy="1417320"/>
          </a:xfrm>
          <a:prstGeom prst="roundRect">
            <a:avLst/>
          </a:prstGeom>
          <a:solidFill>
            <a:srgbClr val="1C7293"/>
          </a:solidFill>
          <a:ln w="12700" cap="rnd">
            <a:solidFill>
              <a:srgbClr val="0B1F3A"/>
            </a:solidFill>
            <a:prstDash val="solid"/>
            <a:round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selection</a:t>
            </a:r>
            <a:endParaRPr lang="en-GB" sz="1700" dirty="0"/>
          </a:p>
          <a:p>
            <a:pPr algn="ctr" marL="0" indent="0">
              <a:buNone/>
            </a:pPr>
            <a:r>
              <a:rPr lang="en-GB" sz="13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10, histologically proven lung cancer with brain metastases</a:t>
            </a:r>
            <a:endParaRPr lang="en-GB" sz="1300" dirty="0"/>
          </a:p>
        </p:txBody>
      </p:sp>
      <p:sp>
        <p:nvSpPr>
          <p:cNvPr id="5" name="Method step 2"/>
          <p:cNvSpPr/>
          <p:nvPr/>
        </p:nvSpPr>
        <p:spPr>
          <a:xfrm>
            <a:off x="3310128" y="1280160"/>
            <a:ext cx="2651760" cy="1417320"/>
          </a:xfrm>
          <a:prstGeom prst="roundRect">
            <a:avLst/>
          </a:prstGeom>
          <a:solidFill>
            <a:srgbClr val="0B1F3A"/>
          </a:solidFill>
          <a:ln w="12700" cap="rnd">
            <a:solidFill>
              <a:srgbClr val="0B1F3A"/>
            </a:solidFill>
            <a:prstDash val="solid"/>
            <a:round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CT review</a:t>
            </a:r>
            <a:endParaRPr lang="en-GB" sz="1700" dirty="0"/>
          </a:p>
          <a:p>
            <a:pPr algn="ctr" marL="0" indent="0">
              <a:buNone/>
            </a:pPr>
            <a:r>
              <a:rPr lang="en-GB" sz="13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tumour: site, size, margin, cavitation</a:t>
            </a:r>
            <a:endParaRPr lang="en-GB" sz="1300" dirty="0"/>
          </a:p>
        </p:txBody>
      </p:sp>
      <p:sp>
        <p:nvSpPr>
          <p:cNvPr id="6" name="Method step 3"/>
          <p:cNvSpPr/>
          <p:nvPr/>
        </p:nvSpPr>
        <p:spPr>
          <a:xfrm>
            <a:off x="6163056" y="1280160"/>
            <a:ext cx="2651760" cy="1417320"/>
          </a:xfrm>
          <a:prstGeom prst="roundRect">
            <a:avLst/>
          </a:prstGeom>
          <a:solidFill>
            <a:srgbClr val="1C7293"/>
          </a:solidFill>
          <a:ln w="12700" cap="rnd">
            <a:solidFill>
              <a:srgbClr val="0B1F3A"/>
            </a:solidFill>
            <a:prstDash val="solid"/>
            <a:round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review</a:t>
            </a:r>
            <a:endParaRPr lang="en-GB" sz="1700" dirty="0"/>
          </a:p>
          <a:p>
            <a:pPr algn="ctr" marL="0" indent="0">
              <a:buNone/>
            </a:pPr>
            <a:r>
              <a:rPr lang="en-GB" sz="13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site, enhancement, oedema, diffusion</a:t>
            </a:r>
            <a:endParaRPr lang="en-GB" sz="1300" dirty="0"/>
          </a:p>
        </p:txBody>
      </p:sp>
      <p:sp>
        <p:nvSpPr>
          <p:cNvPr id="7" name="Method step 4"/>
          <p:cNvSpPr/>
          <p:nvPr/>
        </p:nvSpPr>
        <p:spPr>
          <a:xfrm>
            <a:off x="9015984" y="1280160"/>
            <a:ext cx="2651760" cy="1417320"/>
          </a:xfrm>
          <a:prstGeom prst="roundRect">
            <a:avLst/>
          </a:prstGeom>
          <a:solidFill>
            <a:srgbClr val="0B1F3A"/>
          </a:solidFill>
          <a:ln w="12700" cap="rnd">
            <a:solidFill>
              <a:srgbClr val="0B1F3A"/>
            </a:solidFill>
            <a:prstDash val="solid"/>
            <a:round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 marL="0" indent="0">
              <a:spcAft>
                <a:spcPts val="30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comparison</a:t>
            </a:r>
            <a:endParaRPr lang="en-GB" sz="1700" dirty="0"/>
          </a:p>
          <a:p>
            <a:pPr algn="ctr" marL="0" indent="0">
              <a:buNone/>
            </a:pPr>
            <a:r>
              <a:rPr lang="en-GB" sz="13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by histological subtype</a:t>
            </a:r>
            <a:endParaRPr lang="en-GB" sz="1300" dirty="0"/>
          </a:p>
        </p:txBody>
      </p:sp>
      <p:sp>
        <p:nvSpPr>
          <p:cNvPr id="8" name="Methods text"/>
          <p:cNvSpPr txBox="1"/>
          <p:nvPr/>
        </p:nvSpPr>
        <p:spPr>
          <a:xfrm>
            <a:off x="457200" y="2971800"/>
            <a:ext cx="11247120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retrospective, descriptive pictorial case series.</a:t>
            </a:r>
            <a:endParaRPr lang="en-GB" sz="1700" dirty="0"/>
          </a:p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ethics committee; written informed consent for publication of anonymised images.</a:t>
            </a:r>
            <a:endParaRPr lang="en-GB" sz="1700" dirty="0"/>
          </a:p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adenocarcinoma (ADC) n = 5; small cell carcinoma (SCLC) n = 3; LCNEC n = 1; squamous cell carcinoma (SCC) n = 1.</a:t>
            </a:r>
            <a:endParaRPr lang="en-GB" sz="1700" dirty="0"/>
          </a:p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six representative cases (ADC-2, ADC-3, SCLC-1, SCLC-2, LCNEC-1, SCC-1).</a:t>
            </a:r>
            <a:endParaRPr lang="en-GB" sz="1700" dirty="0"/>
          </a:p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histological diagnosis, chest CT and brain MRI available.</a:t>
            </a:r>
            <a:endParaRPr lang="en-GB" sz="1700" dirty="0"/>
          </a:p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chest CT (axial, coronal; lung and mediastinal windows) and brain MRI: axial post-contrast T1 (T1+C), T2, FLAIR, DWI with apparent diffusion coefficient maps.</a:t>
            </a:r>
            <a:endParaRPr lang="en-GB" sz="1700" dirty="0"/>
          </a:p>
          <a:p>
            <a:pPr marL="203200" indent="-203200">
              <a:spcAft>
                <a:spcPts val="700"/>
              </a:spcAft>
              <a:buFont typeface="Arial" pitchFamily="34" charset="0"/>
              <a:buChar char="•"/>
            </a:pPr>
            <a:r>
              <a:rPr lang="en-GB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r>
              <a:rPr lang="en-GB" sz="17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consensus review; descriptive statistics only.</a:t>
            </a:r>
            <a:endParaRPr lang="en-GB" sz="1700" dirty="0"/>
          </a:p>
        </p:txBody>
      </p:sp>
      <p:sp>
        <p:nvSpPr>
          <p:cNvPr id="9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4/12</a:t>
            </a:r>
            <a:endParaRPr lang="en-GB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Lung Tumour Profiles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graphicFrame>
        <p:nvGraphicFramePr>
          <p:cNvPr id="4" name="Table 1 primary tumour profiles" descr="Table of the six illustrated cases: histology, primary tumour on chest CT and site of the brain metastasis on MRI."/>
          <p:cNvGraphicFramePr>
            <a:graphicFrameLocks noGrp="1"/>
          </p:cNvGraphicFramePr>
          <p:nvPr/>
        </p:nvGraphicFramePr>
        <p:xfrm>
          <a:off x="457200" y="1234440"/>
          <a:ext cx="8001000" cy="3665190"/>
        </p:xfrm>
        <a:graphic>
          <a:graphicData uri="http://schemas.openxmlformats.org/drawingml/2006/table">
            <a:tbl>
              <a:tblPr firstRow="1"/>
              <a:tblGrid>
                <a:gridCol w="914400"/>
                <a:gridCol w="1737360"/>
                <a:gridCol w="333756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Histology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tumour (chest CT)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metastasis (MRI)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525521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ADC-2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Adenocarcinoma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perihilar mass, lower lobe collapse (coronal CT)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medial frontal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5521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ADC-3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Adenocarcinoma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spiculated right apical nodule; emphysema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temporal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521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SCLC-1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cell carcinoma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Lobulated left upper lobe mass, posterior, pleura-based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paramedian frontoparietal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5521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SCLC-2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cell carcinoma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left upper lobe nodule, posterior, pleura-based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frontoparietal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521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LCNEC-1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cell neuroendocrine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apical–posterior soft-tissue mass abutting pleura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frontal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5521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SCC-1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 cell carcinoma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central mediastinal mass; tracheal compression; bullous emphysema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4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cerebellar hemisphere</a:t>
                      </a:r>
                      <a:endParaRPr lang="en-GB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457200" y="5064222"/>
            <a:ext cx="8001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30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illustrated: adenocarcinoma n = 3, small cell carcinoma n = 1. Sides follow radiological convention.</a:t>
            </a:r>
            <a:endParaRPr lang="en-GB" sz="1300" dirty="0"/>
          </a:p>
        </p:txBody>
      </p:sp>
      <p:sp>
        <p:nvSpPr>
          <p:cNvPr id="6" name="Thumbnail heading"/>
          <p:cNvSpPr txBox="1"/>
          <p:nvPr/>
        </p:nvSpPr>
        <p:spPr>
          <a:xfrm>
            <a:off x="8915400" y="118872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tumours (white arrows)</a:t>
            </a:r>
            <a:endParaRPr lang="en-GB" sz="1300" dirty="0"/>
          </a:p>
        </p:txBody>
      </p:sp>
      <p:pic>
        <p:nvPicPr>
          <p:cNvPr id="7" name="Figure A2_CT" descr="ADC-2, coronal chest CT (lung window): white arrow marks a left lower lobe perihilar mass with collapse or consolidatio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536192"/>
            <a:ext cx="1325880" cy="1325880"/>
          </a:xfrm>
          <a:prstGeom prst="rect">
            <a:avLst/>
          </a:prstGeom>
        </p:spPr>
      </p:pic>
      <p:sp>
        <p:nvSpPr>
          <p:cNvPr id="8" name="Label ADC-2"/>
          <p:cNvSpPr txBox="1"/>
          <p:nvPr/>
        </p:nvSpPr>
        <p:spPr>
          <a:xfrm>
            <a:off x="8915400" y="287121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1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ADC-2</a:t>
            </a:r>
            <a:endParaRPr lang="en-GB" sz="1150" dirty="0"/>
          </a:p>
        </p:txBody>
      </p:sp>
      <p:pic>
        <p:nvPicPr>
          <p:cNvPr id="9" name="Figure A1_CT" descr="ADC-3, axial chest CT (lung window): white arrow marks a small spiculated nodule at the right lung ape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536192"/>
            <a:ext cx="1325880" cy="1325880"/>
          </a:xfrm>
          <a:prstGeom prst="rect">
            <a:avLst/>
          </a:prstGeom>
        </p:spPr>
      </p:pic>
      <p:sp>
        <p:nvSpPr>
          <p:cNvPr id="10" name="Label ADC-3"/>
          <p:cNvSpPr txBox="1"/>
          <p:nvPr/>
        </p:nvSpPr>
        <p:spPr>
          <a:xfrm>
            <a:off x="10378440" y="287121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1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ADC-3</a:t>
            </a:r>
            <a:endParaRPr lang="en-GB" sz="1150" dirty="0"/>
          </a:p>
        </p:txBody>
      </p:sp>
      <p:pic>
        <p:nvPicPr>
          <p:cNvPr id="11" name="Figure S2_CT" descr="SCLC-1, axial chest CT (lung window): white arrow marks a well-defined lobulated pleura-based mass in the posterior left upper lobe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163824"/>
            <a:ext cx="1325880" cy="1325880"/>
          </a:xfrm>
          <a:prstGeom prst="rect">
            <a:avLst/>
          </a:prstGeom>
        </p:spPr>
      </p:pic>
      <p:sp>
        <p:nvSpPr>
          <p:cNvPr id="12" name="Label SCLC-1"/>
          <p:cNvSpPr txBox="1"/>
          <p:nvPr/>
        </p:nvSpPr>
        <p:spPr>
          <a:xfrm>
            <a:off x="8915400" y="44988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1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SCLC-1</a:t>
            </a:r>
            <a:endParaRPr lang="en-GB" sz="1150" dirty="0"/>
          </a:p>
        </p:txBody>
      </p:sp>
      <p:pic>
        <p:nvPicPr>
          <p:cNvPr id="13" name="Figure S1_CT" descr="SCLC-2, axial chest CT (lung window): white arrow marks a small lobulated pleura-based nodule in the posterior left upper lobe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3163824"/>
            <a:ext cx="1325880" cy="1325880"/>
          </a:xfrm>
          <a:prstGeom prst="rect">
            <a:avLst/>
          </a:prstGeom>
        </p:spPr>
      </p:pic>
      <p:sp>
        <p:nvSpPr>
          <p:cNvPr id="14" name="Label SCLC-2"/>
          <p:cNvSpPr txBox="1"/>
          <p:nvPr/>
        </p:nvSpPr>
        <p:spPr>
          <a:xfrm>
            <a:off x="10378440" y="44988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1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SCLC-2</a:t>
            </a:r>
            <a:endParaRPr lang="en-GB" sz="1150" dirty="0"/>
          </a:p>
        </p:txBody>
      </p:sp>
      <p:pic>
        <p:nvPicPr>
          <p:cNvPr id="15" name="Figure L1_CT" descr="LCNEC-1, axial chest CT (lung window): white arrow marks a soft-tissue mass at the left lung apex abutting the pleura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4791456"/>
            <a:ext cx="1325880" cy="1325880"/>
          </a:xfrm>
          <a:prstGeom prst="rect">
            <a:avLst/>
          </a:prstGeom>
        </p:spPr>
      </p:pic>
      <p:sp>
        <p:nvSpPr>
          <p:cNvPr id="16" name="Label LCNEC-1"/>
          <p:cNvSpPr txBox="1"/>
          <p:nvPr/>
        </p:nvSpPr>
        <p:spPr>
          <a:xfrm>
            <a:off x="8915400" y="612648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1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LCNEC-1</a:t>
            </a:r>
            <a:endParaRPr lang="en-GB" sz="1150" dirty="0"/>
          </a:p>
        </p:txBody>
      </p:sp>
      <p:pic>
        <p:nvPicPr>
          <p:cNvPr id="17" name="Figure Q1_CT" descr="SCC-1, axial chest CT (lung window): white arrow marks a very large central mediastinal mass; bullous emphysema in the right lung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440" y="4791456"/>
            <a:ext cx="1325880" cy="1325880"/>
          </a:xfrm>
          <a:prstGeom prst="rect">
            <a:avLst/>
          </a:prstGeom>
        </p:spPr>
      </p:pic>
      <p:sp>
        <p:nvSpPr>
          <p:cNvPr id="18" name="Label SCC-1"/>
          <p:cNvSpPr txBox="1"/>
          <p:nvPr/>
        </p:nvSpPr>
        <p:spPr>
          <a:xfrm>
            <a:off x="10378440" y="612648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1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SCC-1</a:t>
            </a:r>
            <a:endParaRPr lang="en-GB" sz="1150" dirty="0"/>
          </a:p>
        </p:txBody>
      </p:sp>
      <p:sp>
        <p:nvSpPr>
          <p:cNvPr id="19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5/12</a:t>
            </a:r>
            <a:endParaRPr lang="en-GB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Neuroimaging Spectrum: Adenocarcinoma Brain Metastases</a:t>
            </a:r>
            <a:endParaRPr lang="en-GB" sz="26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pic>
        <p:nvPicPr>
          <p:cNvPr id="4" name="Figure A1_CT" descr="ADC-3, axial chest CT (lung window): white arrow marks a small spiculated nodule at the right lung apex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645920" cy="1645920"/>
          </a:xfrm>
          <a:prstGeom prst="rect">
            <a:avLst/>
          </a:prstGeom>
        </p:spPr>
      </p:pic>
      <p:pic>
        <p:nvPicPr>
          <p:cNvPr id="5" name="Figure A1_T1C" descr="ADC-3, axial T1 post-contrast MRI: yellow arrow marks an ill-defined ring-enhancing lesion in the right temporal lob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188720"/>
            <a:ext cx="1645920" cy="1645920"/>
          </a:xfrm>
          <a:prstGeom prst="rect">
            <a:avLst/>
          </a:prstGeom>
        </p:spPr>
      </p:pic>
      <p:pic>
        <p:nvPicPr>
          <p:cNvPr id="6" name="Figure A1_FLAIR" descr="ADC-3, axial FLAIR MRI: cyan arrow marks extensive vasogenic oedema in the right hemisphere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1188720"/>
            <a:ext cx="1645920" cy="1645920"/>
          </a:xfrm>
          <a:prstGeom prst="rect">
            <a:avLst/>
          </a:prstGeom>
        </p:spPr>
      </p:pic>
      <p:pic>
        <p:nvPicPr>
          <p:cNvPr id="7" name="Figure A1_DWI" descr="ADC-3, axial diffusion-weighted MRI: no restricted diffusion in the lesion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1188720"/>
            <a:ext cx="1645920" cy="1645920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457200" y="288036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ADC-3: chest CT, axial T1+C, FLAIR, DWI</a:t>
            </a:r>
            <a:endParaRPr lang="en-GB" sz="1250" dirty="0"/>
          </a:p>
        </p:txBody>
      </p:sp>
      <p:pic>
        <p:nvPicPr>
          <p:cNvPr id="9" name="Figure A2_CT" descr="ADC-2, coronal chest CT (lung window): white arrow marks a left lower lobe perihilar mass with collapse or consolidation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20440"/>
            <a:ext cx="1645920" cy="1645920"/>
          </a:xfrm>
          <a:prstGeom prst="rect">
            <a:avLst/>
          </a:prstGeom>
        </p:spPr>
      </p:pic>
      <p:pic>
        <p:nvPicPr>
          <p:cNvPr id="10" name="Figure A2_T1C" descr="ADC-2, axial T1 post-contrast MRI: yellow arrow marks a thick-walled ring-enhancing lesion in the left medial frontal lobe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7128" y="3520440"/>
            <a:ext cx="1645920" cy="1645920"/>
          </a:xfrm>
          <a:prstGeom prst="rect">
            <a:avLst/>
          </a:prstGeom>
        </p:spPr>
      </p:pic>
      <p:pic>
        <p:nvPicPr>
          <p:cNvPr id="11" name="Figure A2_FLAIR" descr="ADC-2, axial FLAIR MRI: cyan arrow marks extensive vasogenic oedema in the left frontal lob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3520440"/>
            <a:ext cx="1645920" cy="1645920"/>
          </a:xfrm>
          <a:prstGeom prst="rect">
            <a:avLst/>
          </a:prstGeom>
        </p:spPr>
      </p:pic>
      <p:pic>
        <p:nvPicPr>
          <p:cNvPr id="12" name="Figure A2_DWI" descr="ADC-2, axial diffusion-weighted MRI: magenta arrow marks restricted diffusion at the lesion rim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3520440"/>
            <a:ext cx="1645920" cy="1645920"/>
          </a:xfrm>
          <a:prstGeom prst="rect">
            <a:avLst/>
          </a:prstGeom>
        </p:spPr>
      </p:pic>
      <p:sp>
        <p:nvSpPr>
          <p:cNvPr id="13" name="Figure caption"/>
          <p:cNvSpPr txBox="1"/>
          <p:nvPr/>
        </p:nvSpPr>
        <p:spPr>
          <a:xfrm>
            <a:off x="457200" y="521208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ADC-2: chest CT (coronal), axial T1+C, FLAIR, DWI</a:t>
            </a:r>
            <a:endParaRPr lang="en-GB" sz="1250" dirty="0"/>
          </a:p>
        </p:txBody>
      </p:sp>
      <p:sp>
        <p:nvSpPr>
          <p:cNvPr id="14" name="Features heading"/>
          <p:cNvSpPr txBox="1"/>
          <p:nvPr/>
        </p:nvSpPr>
        <p:spPr>
          <a:xfrm>
            <a:off x="7452360" y="1188720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imaging features</a:t>
            </a:r>
            <a:endParaRPr lang="en-GB" sz="1450" dirty="0"/>
          </a:p>
        </p:txBody>
      </p:sp>
      <p:graphicFrame>
        <p:nvGraphicFramePr>
          <p:cNvPr id="15" name="Key imaging features table" descr="Key imaging features of the illustrated cases."/>
          <p:cNvGraphicFramePr>
            <a:graphicFrameLocks noGrp="1"/>
          </p:cNvGraphicFramePr>
          <p:nvPr/>
        </p:nvGraphicFramePr>
        <p:xfrm>
          <a:off x="7452360" y="1536192"/>
          <a:ext cx="4279392" cy="2031446"/>
        </p:xfrm>
        <a:graphic>
          <a:graphicData uri="http://schemas.openxmlformats.org/drawingml/2006/table">
            <a:tbl>
              <a:tblPr firstRow="1"/>
              <a:tblGrid>
                <a:gridCol w="868680"/>
                <a:gridCol w="1737360"/>
                <a:gridCol w="1673352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ADC-3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ADC-2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temporal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medial frontal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94515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T1+C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Ill-defined ring/heterogeneous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 irregular ring, necrotic centre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4515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FLAIR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 vasogenic oedema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 vasogenic oedema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DWI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restriction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3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 restriction</a:t>
                      </a:r>
                      <a:endParaRPr lang="en-GB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aching points"/>
          <p:cNvSpPr txBox="1"/>
          <p:nvPr/>
        </p:nvSpPr>
        <p:spPr>
          <a:xfrm>
            <a:off x="7452360" y="3787094"/>
            <a:ext cx="4279392" cy="1135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points</a:t>
            </a:r>
            <a:endParaRPr lang="en-GB" sz="145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4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primaries can present with large brain lesions; oedema is disproportionate to lesion size.</a:t>
            </a:r>
            <a:endParaRPr lang="en-GB" sz="145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4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EGFR/ALK status where available </a:t>
            </a:r>
            <a:r>
              <a:rPr lang="en-GB" sz="145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r>
              <a:rPr lang="en-GB" sz="14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450" dirty="0"/>
          </a:p>
        </p:txBody>
      </p:sp>
      <p:sp>
        <p:nvSpPr>
          <p:cNvPr id="17" name="Legend heading"/>
          <p:cNvSpPr txBox="1"/>
          <p:nvPr/>
        </p:nvSpPr>
        <p:spPr>
          <a:xfrm>
            <a:off x="7452360" y="5504688"/>
            <a:ext cx="42793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</a:t>
            </a:r>
            <a:endParaRPr lang="en-GB" sz="1200" dirty="0"/>
          </a:p>
        </p:txBody>
      </p:sp>
      <p:sp>
        <p:nvSpPr>
          <p:cNvPr id="18" name="Legend swatch yellow"/>
          <p:cNvSpPr/>
          <p:nvPr/>
        </p:nvSpPr>
        <p:spPr>
          <a:xfrm>
            <a:off x="7452360" y="5843016"/>
            <a:ext cx="201168" cy="128016"/>
          </a:xfrm>
          <a:prstGeom prst="rect">
            <a:avLst/>
          </a:prstGeom>
          <a:solidFill>
            <a:srgbClr val="FFE100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19" name="Legend yellow"/>
          <p:cNvSpPr txBox="1"/>
          <p:nvPr/>
        </p:nvSpPr>
        <p:spPr>
          <a:xfrm>
            <a:off x="7726680" y="5779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lesion</a:t>
            </a:r>
            <a:endParaRPr lang="en-GB" sz="1200" dirty="0"/>
          </a:p>
        </p:txBody>
      </p:sp>
      <p:sp>
        <p:nvSpPr>
          <p:cNvPr id="20" name="Legend swatch cyan"/>
          <p:cNvSpPr/>
          <p:nvPr/>
        </p:nvSpPr>
        <p:spPr>
          <a:xfrm>
            <a:off x="9592056" y="5843016"/>
            <a:ext cx="201168" cy="128016"/>
          </a:xfrm>
          <a:prstGeom prst="rect">
            <a:avLst/>
          </a:prstGeom>
          <a:solidFill>
            <a:srgbClr val="00D7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1" name="Legend cyan"/>
          <p:cNvSpPr txBox="1"/>
          <p:nvPr/>
        </p:nvSpPr>
        <p:spPr>
          <a:xfrm>
            <a:off x="9866376" y="5779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Vasogenic oedema</a:t>
            </a:r>
            <a:endParaRPr lang="en-GB" sz="1200" dirty="0"/>
          </a:p>
        </p:txBody>
      </p:sp>
      <p:sp>
        <p:nvSpPr>
          <p:cNvPr id="22" name="Legend swatch magenta"/>
          <p:cNvSpPr/>
          <p:nvPr/>
        </p:nvSpPr>
        <p:spPr>
          <a:xfrm>
            <a:off x="7452360" y="6099048"/>
            <a:ext cx="201168" cy="128016"/>
          </a:xfrm>
          <a:prstGeom prst="rect">
            <a:avLst/>
          </a:prstGeom>
          <a:solidFill>
            <a:srgbClr val="FF00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3" name="Legend magenta"/>
          <p:cNvSpPr txBox="1"/>
          <p:nvPr/>
        </p:nvSpPr>
        <p:spPr>
          <a:xfrm>
            <a:off x="7726680" y="60350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restriction</a:t>
            </a:r>
            <a:endParaRPr lang="en-GB" sz="1200" dirty="0"/>
          </a:p>
        </p:txBody>
      </p:sp>
      <p:sp>
        <p:nvSpPr>
          <p:cNvPr id="24" name="Legend swatch white"/>
          <p:cNvSpPr/>
          <p:nvPr/>
        </p:nvSpPr>
        <p:spPr>
          <a:xfrm>
            <a:off x="9592056" y="6099048"/>
            <a:ext cx="201168" cy="128016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5" name="Legend white"/>
          <p:cNvSpPr txBox="1"/>
          <p:nvPr/>
        </p:nvSpPr>
        <p:spPr>
          <a:xfrm>
            <a:off x="9866376" y="60350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lung tumour</a:t>
            </a:r>
            <a:endParaRPr lang="en-GB" sz="1200" dirty="0"/>
          </a:p>
        </p:txBody>
      </p:sp>
      <p:sp>
        <p:nvSpPr>
          <p:cNvPr id="26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6/12</a:t>
            </a:r>
            <a:endParaRPr lang="en-GB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Neuroimaging Spectrum: Squamous Cell Carcinoma Brain Metastases</a:t>
            </a:r>
            <a:endParaRPr lang="en-GB" sz="26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pic>
        <p:nvPicPr>
          <p:cNvPr id="4" name="Figure Q1_CT" descr="SCC-1, axial chest CT (lung window): white arrow marks a very large central mediastinal mass; bullous emphysema in the right lung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2103120" cy="2103120"/>
          </a:xfrm>
          <a:prstGeom prst="rect">
            <a:avLst/>
          </a:prstGeom>
        </p:spPr>
      </p:pic>
      <p:pic>
        <p:nvPicPr>
          <p:cNvPr id="5" name="Figure Q1_CTm" descr="SCC-1, axial chest CT (mediastinal window): white arrow marks the very large central mediastinal mass compressing the trachea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188720"/>
            <a:ext cx="2103120" cy="2103120"/>
          </a:xfrm>
          <a:prstGeom prst="rect">
            <a:avLst/>
          </a:prstGeom>
        </p:spPr>
      </p:pic>
      <p:pic>
        <p:nvPicPr>
          <p:cNvPr id="6" name="Figure Q1_T1C" descr="SCC-1, axial T1 post-contrast MRI: yellow arrow marks a large cystic necrotic left cerebellar lesion with an enhancing wall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88720"/>
            <a:ext cx="2103120" cy="2103120"/>
          </a:xfrm>
          <a:prstGeom prst="rect">
            <a:avLst/>
          </a:prstGeom>
        </p:spPr>
      </p:pic>
      <p:pic>
        <p:nvPicPr>
          <p:cNvPr id="7" name="Figure Q1_T2" descr="SCC-1, axial T2 MRI: yellow arrow marks the fluid-signal component of the left cerebellar lesion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29000"/>
            <a:ext cx="2103120" cy="2103120"/>
          </a:xfrm>
          <a:prstGeom prst="rect">
            <a:avLst/>
          </a:prstGeom>
        </p:spPr>
      </p:pic>
      <p:pic>
        <p:nvPicPr>
          <p:cNvPr id="8" name="Figure Q1_FLAIR" descr="SCC-1, axial FLAIR MRI: cyan arrow marks oedema around the left cerebellar les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429000"/>
            <a:ext cx="2103120" cy="2103120"/>
          </a:xfrm>
          <a:prstGeom prst="rect">
            <a:avLst/>
          </a:prstGeom>
        </p:spPr>
      </p:pic>
      <p:pic>
        <p:nvPicPr>
          <p:cNvPr id="9" name="Figure Q1_DWI" descr="SCC-1, axial diffusion-weighted MRI: magenta arrow marks heterogeneous signal with restriction at the rim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3429000"/>
            <a:ext cx="2103120" cy="2103120"/>
          </a:xfrm>
          <a:prstGeom prst="rect">
            <a:avLst/>
          </a:prstGeom>
        </p:spPr>
      </p:pic>
      <p:sp>
        <p:nvSpPr>
          <p:cNvPr id="10" name="Figure caption"/>
          <p:cNvSpPr txBox="1"/>
          <p:nvPr/>
        </p:nvSpPr>
        <p:spPr>
          <a:xfrm>
            <a:off x="457200" y="557784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SCC-1: chest CT (lung, mediastinal window), T1+C, T2, FLAIR, DWI</a:t>
            </a:r>
            <a:endParaRPr lang="en-GB" sz="1250" dirty="0"/>
          </a:p>
        </p:txBody>
      </p:sp>
      <p:sp>
        <p:nvSpPr>
          <p:cNvPr id="11" name="Key imaging features"/>
          <p:cNvSpPr txBox="1"/>
          <p:nvPr/>
        </p:nvSpPr>
        <p:spPr>
          <a:xfrm>
            <a:off x="7223760" y="1188720"/>
            <a:ext cx="4507992" cy="2324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imaging features</a:t>
            </a:r>
            <a:endParaRPr lang="en-GB" sz="145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very large central mediastinal mass compressing the trachea; background bullous emphysema.</a:t>
            </a:r>
            <a:endParaRPr lang="en-GB" sz="140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posterior fossa, left cerebellar hemisphere; single lesion shown.</a:t>
            </a:r>
            <a:endParaRPr lang="en-GB" sz="140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T1+C: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large cystic/necrotic lesion with enhancing wall.</a:t>
            </a:r>
            <a:endParaRPr lang="en-GB" sz="140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T2/FLAIR: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fluid-signal component with surrounding oedema.</a:t>
            </a:r>
            <a:endParaRPr lang="en-GB" sz="140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DWI: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heterogeneous; restriction at the rim.</a:t>
            </a:r>
            <a:endParaRPr lang="en-GB" sz="1400" dirty="0"/>
          </a:p>
        </p:txBody>
      </p:sp>
      <p:sp>
        <p:nvSpPr>
          <p:cNvPr id="12" name="Teaching points"/>
          <p:cNvSpPr txBox="1"/>
          <p:nvPr/>
        </p:nvSpPr>
        <p:spPr>
          <a:xfrm>
            <a:off x="7223760" y="3631928"/>
            <a:ext cx="4507992" cy="15716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points</a:t>
            </a:r>
            <a:endParaRPr lang="en-GB" sz="145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Squamous BM are less frequent than adenocarcinoma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necrotic or cystic ring-enhancing morphology is described.</a:t>
            </a:r>
            <a:endParaRPr lang="en-GB" sz="140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fossa lesions: assess mass effect and hydrocephalus.</a:t>
            </a:r>
            <a:endParaRPr lang="en-GB" sz="1400" dirty="0"/>
          </a:p>
          <a:p>
            <a:pPr marL="203200" indent="-203200">
              <a:spcAft>
                <a:spcPts val="4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illustrative case (n = 1).</a:t>
            </a:r>
            <a:endParaRPr lang="en-GB" sz="1400" dirty="0"/>
          </a:p>
        </p:txBody>
      </p:sp>
      <p:sp>
        <p:nvSpPr>
          <p:cNvPr id="13" name="Legend heading"/>
          <p:cNvSpPr txBox="1"/>
          <p:nvPr/>
        </p:nvSpPr>
        <p:spPr>
          <a:xfrm>
            <a:off x="7223760" y="5440680"/>
            <a:ext cx="45079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</a:t>
            </a:r>
            <a:endParaRPr lang="en-GB" sz="1200" dirty="0"/>
          </a:p>
        </p:txBody>
      </p:sp>
      <p:sp>
        <p:nvSpPr>
          <p:cNvPr id="14" name="Legend swatch yellow"/>
          <p:cNvSpPr/>
          <p:nvPr/>
        </p:nvSpPr>
        <p:spPr>
          <a:xfrm>
            <a:off x="7223760" y="5779008"/>
            <a:ext cx="201168" cy="128016"/>
          </a:xfrm>
          <a:prstGeom prst="rect">
            <a:avLst/>
          </a:prstGeom>
          <a:solidFill>
            <a:srgbClr val="FFE100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15" name="Legend yellow"/>
          <p:cNvSpPr txBox="1"/>
          <p:nvPr/>
        </p:nvSpPr>
        <p:spPr>
          <a:xfrm>
            <a:off x="7498080" y="5715000"/>
            <a:ext cx="19431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lesion</a:t>
            </a:r>
            <a:endParaRPr lang="en-GB" sz="1200" dirty="0"/>
          </a:p>
        </p:txBody>
      </p:sp>
      <p:sp>
        <p:nvSpPr>
          <p:cNvPr id="16" name="Legend swatch cyan"/>
          <p:cNvSpPr/>
          <p:nvPr/>
        </p:nvSpPr>
        <p:spPr>
          <a:xfrm>
            <a:off x="9477756" y="5779008"/>
            <a:ext cx="201168" cy="128016"/>
          </a:xfrm>
          <a:prstGeom prst="rect">
            <a:avLst/>
          </a:prstGeom>
          <a:solidFill>
            <a:srgbClr val="00D7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17" name="Legend cyan"/>
          <p:cNvSpPr txBox="1"/>
          <p:nvPr/>
        </p:nvSpPr>
        <p:spPr>
          <a:xfrm>
            <a:off x="9752076" y="5715000"/>
            <a:ext cx="19431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Vasogenic oedema</a:t>
            </a:r>
            <a:endParaRPr lang="en-GB" sz="1200" dirty="0"/>
          </a:p>
        </p:txBody>
      </p:sp>
      <p:sp>
        <p:nvSpPr>
          <p:cNvPr id="18" name="Legend swatch magenta"/>
          <p:cNvSpPr/>
          <p:nvPr/>
        </p:nvSpPr>
        <p:spPr>
          <a:xfrm>
            <a:off x="7223760" y="6035040"/>
            <a:ext cx="201168" cy="128016"/>
          </a:xfrm>
          <a:prstGeom prst="rect">
            <a:avLst/>
          </a:prstGeom>
          <a:solidFill>
            <a:srgbClr val="FF00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19" name="Legend magenta"/>
          <p:cNvSpPr txBox="1"/>
          <p:nvPr/>
        </p:nvSpPr>
        <p:spPr>
          <a:xfrm>
            <a:off x="7498080" y="5971032"/>
            <a:ext cx="19431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restriction</a:t>
            </a:r>
            <a:endParaRPr lang="en-GB" sz="1200" dirty="0"/>
          </a:p>
        </p:txBody>
      </p:sp>
      <p:sp>
        <p:nvSpPr>
          <p:cNvPr id="20" name="Legend swatch white"/>
          <p:cNvSpPr/>
          <p:nvPr/>
        </p:nvSpPr>
        <p:spPr>
          <a:xfrm>
            <a:off x="9477756" y="6035040"/>
            <a:ext cx="201168" cy="128016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1" name="Legend white"/>
          <p:cNvSpPr txBox="1"/>
          <p:nvPr/>
        </p:nvSpPr>
        <p:spPr>
          <a:xfrm>
            <a:off x="9752076" y="5971032"/>
            <a:ext cx="19431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lung tumour</a:t>
            </a:r>
            <a:endParaRPr lang="en-GB" sz="1200" dirty="0"/>
          </a:p>
        </p:txBody>
      </p:sp>
      <p:sp>
        <p:nvSpPr>
          <p:cNvPr id="22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7/12</a:t>
            </a:r>
            <a:endParaRPr lang="en-GB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Neuroimaging Spectrum: SCLC &amp; Neuroendocrine Brain Metastases</a:t>
            </a:r>
            <a:endParaRPr lang="en-GB" sz="26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pic>
        <p:nvPicPr>
          <p:cNvPr id="4" name="Figure S1_CT" descr="SCLC-2, axial chest CT (lung window): white arrow marks a small lobulated pleura-based nodule in the posterior left upper lob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1335024" cy="1335024"/>
          </a:xfrm>
          <a:prstGeom prst="rect">
            <a:avLst/>
          </a:prstGeom>
        </p:spPr>
      </p:pic>
      <p:pic>
        <p:nvPicPr>
          <p:cNvPr id="5" name="Figure S1_T1C" descr="SCLC-2, axial T1 post-contrast MRI: yellow arrow marks a small ring-enhancing lesion in the right hemispher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1143000"/>
            <a:ext cx="1335024" cy="1335024"/>
          </a:xfrm>
          <a:prstGeom prst="rect">
            <a:avLst/>
          </a:prstGeom>
        </p:spPr>
      </p:pic>
      <p:pic>
        <p:nvPicPr>
          <p:cNvPr id="6" name="Figure S1_FLAIR" descr="SCLC-2, axial FLAIR MRI: cyan arrow marks extensive vasogenic oedema in the right frontoparietal region around a central lesion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1143000"/>
            <a:ext cx="1335024" cy="1335024"/>
          </a:xfrm>
          <a:prstGeom prst="rect">
            <a:avLst/>
          </a:prstGeom>
        </p:spPr>
      </p:pic>
      <p:pic>
        <p:nvPicPr>
          <p:cNvPr id="7" name="Figure S1_DWI" descr="SCLC-2, axial diffusion-weighted MRI: magenta arrow marks restricted diffusion at the lesion rim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1143000"/>
            <a:ext cx="1335024" cy="1335024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457200" y="251460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SCLC-2: chest CT, T1+C, FLAIR, DWI</a:t>
            </a:r>
            <a:endParaRPr lang="en-GB" sz="1200" dirty="0"/>
          </a:p>
        </p:txBody>
      </p:sp>
      <p:pic>
        <p:nvPicPr>
          <p:cNvPr id="9" name="Figure S2_CT" descr="SCLC-1, axial chest CT (lung window): white arrow marks a well-defined lobulated pleura-based mass in the posterior left upper lobe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898648"/>
            <a:ext cx="1335024" cy="1335024"/>
          </a:xfrm>
          <a:prstGeom prst="rect">
            <a:avLst/>
          </a:prstGeom>
        </p:spPr>
      </p:pic>
      <p:pic>
        <p:nvPicPr>
          <p:cNvPr id="10" name="Figure S2_T1C" descr="SCLC-1, axial T1 post-contrast MRI: yellow arrow marks a heterogeneously enhancing right paramedian lesion; green arrow marks an incidental meningioma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2898648"/>
            <a:ext cx="1335024" cy="1335024"/>
          </a:xfrm>
          <a:prstGeom prst="rect">
            <a:avLst/>
          </a:prstGeom>
        </p:spPr>
      </p:pic>
      <p:pic>
        <p:nvPicPr>
          <p:cNvPr id="11" name="Figure S2_FLAIR" descr="SCLC-1, axial FLAIR MRI: cyan arrow marks extensive vasogenic oedema in the right frontoparietal region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3552" y="2898648"/>
            <a:ext cx="1335024" cy="1335024"/>
          </a:xfrm>
          <a:prstGeom prst="rect">
            <a:avLst/>
          </a:prstGeom>
        </p:spPr>
      </p:pic>
      <p:pic>
        <p:nvPicPr>
          <p:cNvPr id="12" name="Figure S2_DWI" descr="SCLC-1, axial diffusion-weighted MRI: magenta arrow marks focal restricted diffusion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28" y="2898648"/>
            <a:ext cx="1335024" cy="1335024"/>
          </a:xfrm>
          <a:prstGeom prst="rect">
            <a:avLst/>
          </a:prstGeom>
        </p:spPr>
      </p:pic>
      <p:sp>
        <p:nvSpPr>
          <p:cNvPr id="13" name="Figure caption"/>
          <p:cNvSpPr txBox="1"/>
          <p:nvPr/>
        </p:nvSpPr>
        <p:spPr>
          <a:xfrm>
            <a:off x="457200" y="4270248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SCLC-1: chest CT, T1+C (metastasis + incidental meningioma), FLAIR, DWI</a:t>
            </a:r>
            <a:endParaRPr lang="en-GB" sz="1200" dirty="0"/>
          </a:p>
        </p:txBody>
      </p:sp>
      <p:pic>
        <p:nvPicPr>
          <p:cNvPr id="14" name="Figure L1_CT" descr="LCNEC-1, axial chest CT (lung window): white arrow marks a soft-tissue mass at the left lung apex abutting the pleura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654296"/>
            <a:ext cx="1335024" cy="1335024"/>
          </a:xfrm>
          <a:prstGeom prst="rect">
            <a:avLst/>
          </a:prstGeom>
        </p:spPr>
      </p:pic>
      <p:pic>
        <p:nvPicPr>
          <p:cNvPr id="15" name="Figure L1_T1C" descr="LCNEC-1, axial T1 post-contrast MRI: yellow arrow marks a large cystic necrotic left frontal lesion with a thick nodular enhancing wall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65376" y="4654296"/>
            <a:ext cx="1335024" cy="1335024"/>
          </a:xfrm>
          <a:prstGeom prst="rect">
            <a:avLst/>
          </a:prstGeom>
        </p:spPr>
      </p:pic>
      <p:pic>
        <p:nvPicPr>
          <p:cNvPr id="16" name="Figure L1_FLAIR" descr="LCNEC-1, axial FLAIR MRI: yellow arrow marks the lesion with a thin hyperintense rim and minimal surrounding oedem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4654296"/>
            <a:ext cx="1335024" cy="1335024"/>
          </a:xfrm>
          <a:prstGeom prst="rect">
            <a:avLst/>
          </a:prstGeom>
        </p:spPr>
      </p:pic>
      <p:pic>
        <p:nvPicPr>
          <p:cNvPr id="17" name="Figure L1_DWI" descr="LCNEC-1, axial diffusion-weighted MRI: magenta arrow marks restricted diffusion at the lesion rim with a low-signal centre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4654296"/>
            <a:ext cx="1335024" cy="1335024"/>
          </a:xfrm>
          <a:prstGeom prst="rect">
            <a:avLst/>
          </a:prstGeom>
        </p:spPr>
      </p:pic>
      <p:sp>
        <p:nvSpPr>
          <p:cNvPr id="18" name="Figure caption"/>
          <p:cNvSpPr txBox="1"/>
          <p:nvPr/>
        </p:nvSpPr>
        <p:spPr>
          <a:xfrm>
            <a:off x="457200" y="6025896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LCNEC-1: chest CT, T1+C, FLAIR, DWI</a:t>
            </a:r>
            <a:endParaRPr lang="en-GB" sz="1200" dirty="0"/>
          </a:p>
        </p:txBody>
      </p:sp>
      <p:sp>
        <p:nvSpPr>
          <p:cNvPr id="19" name="Features heading"/>
          <p:cNvSpPr txBox="1"/>
          <p:nvPr/>
        </p:nvSpPr>
        <p:spPr>
          <a:xfrm>
            <a:off x="6446520" y="1143000"/>
            <a:ext cx="52852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imaging features</a:t>
            </a:r>
            <a:endParaRPr lang="en-GB" sz="1450" dirty="0"/>
          </a:p>
        </p:txBody>
      </p:sp>
      <p:graphicFrame>
        <p:nvGraphicFramePr>
          <p:cNvPr id="20" name="Key imaging features table" descr="Key imaging features of the illustrated cases."/>
          <p:cNvGraphicFramePr>
            <a:graphicFrameLocks noGrp="1"/>
          </p:cNvGraphicFramePr>
          <p:nvPr/>
        </p:nvGraphicFramePr>
        <p:xfrm>
          <a:off x="6446520" y="1490472"/>
          <a:ext cx="5285232" cy="2000440"/>
        </p:xfrm>
        <a:graphic>
          <a:graphicData uri="http://schemas.openxmlformats.org/drawingml/2006/table">
            <a:tbl>
              <a:tblPr firstRow="1"/>
              <a:tblGrid>
                <a:gridCol w="868680"/>
                <a:gridCol w="1417320"/>
                <a:gridCol w="1490472"/>
                <a:gridCol w="1508760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SCLC-2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SCLC-1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LCNEC-1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frontoparietal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paramedian frontoparietal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frontal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T1+C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ring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heterogeneous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necrotic, thick wall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Oedema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DWI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 restriction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restriction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 restriction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aching points"/>
          <p:cNvSpPr txBox="1"/>
          <p:nvPr/>
        </p:nvSpPr>
        <p:spPr>
          <a:xfrm>
            <a:off x="6446520" y="3710368"/>
            <a:ext cx="5285232" cy="17802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points</a:t>
            </a:r>
            <a:endParaRPr lang="en-GB" sz="145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3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detects more and smaller lesions than CT: always scan the post-contrast series </a:t>
            </a:r>
            <a:r>
              <a:rPr lang="en-GB" sz="135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r>
              <a:rPr lang="en-GB" sz="13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35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3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(SCLC-1): an extra-axial enhancing lesion may be an incidental meningioma, not a metastasis.</a:t>
            </a:r>
            <a:endParaRPr lang="en-GB" sz="1350" dirty="0"/>
          </a:p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3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LCNEC behaves like SCLC; imaging overlaps, so histology cannot be inferred from MRI.</a:t>
            </a:r>
            <a:endParaRPr lang="en-GB" sz="1350" dirty="0"/>
          </a:p>
        </p:txBody>
      </p:sp>
      <p:sp>
        <p:nvSpPr>
          <p:cNvPr id="22" name="Legend heading"/>
          <p:cNvSpPr txBox="1"/>
          <p:nvPr/>
        </p:nvSpPr>
        <p:spPr>
          <a:xfrm>
            <a:off x="6446520" y="5532120"/>
            <a:ext cx="528523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</a:t>
            </a:r>
            <a:endParaRPr lang="en-GB" sz="1200" dirty="0"/>
          </a:p>
        </p:txBody>
      </p:sp>
      <p:sp>
        <p:nvSpPr>
          <p:cNvPr id="23" name="Legend swatch yellow"/>
          <p:cNvSpPr/>
          <p:nvPr/>
        </p:nvSpPr>
        <p:spPr>
          <a:xfrm>
            <a:off x="6446520" y="5870448"/>
            <a:ext cx="201168" cy="128016"/>
          </a:xfrm>
          <a:prstGeom prst="rect">
            <a:avLst/>
          </a:prstGeom>
          <a:solidFill>
            <a:srgbClr val="FFE100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4" name="Legend yellow"/>
          <p:cNvSpPr txBox="1"/>
          <p:nvPr/>
        </p:nvSpPr>
        <p:spPr>
          <a:xfrm>
            <a:off x="6720840" y="5806440"/>
            <a:ext cx="1450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1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lesion</a:t>
            </a:r>
            <a:endParaRPr lang="en-GB" sz="1150" dirty="0"/>
          </a:p>
        </p:txBody>
      </p:sp>
      <p:sp>
        <p:nvSpPr>
          <p:cNvPr id="25" name="Legend swatch cyan"/>
          <p:cNvSpPr/>
          <p:nvPr/>
        </p:nvSpPr>
        <p:spPr>
          <a:xfrm>
            <a:off x="8208264" y="5870448"/>
            <a:ext cx="201168" cy="128016"/>
          </a:xfrm>
          <a:prstGeom prst="rect">
            <a:avLst/>
          </a:prstGeom>
          <a:solidFill>
            <a:srgbClr val="00D7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6" name="Legend cyan"/>
          <p:cNvSpPr txBox="1"/>
          <p:nvPr/>
        </p:nvSpPr>
        <p:spPr>
          <a:xfrm>
            <a:off x="8482584" y="5806440"/>
            <a:ext cx="1450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1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Vasogenic oedema</a:t>
            </a:r>
            <a:endParaRPr lang="en-GB" sz="1150" dirty="0"/>
          </a:p>
        </p:txBody>
      </p:sp>
      <p:sp>
        <p:nvSpPr>
          <p:cNvPr id="27" name="Legend swatch magenta"/>
          <p:cNvSpPr/>
          <p:nvPr/>
        </p:nvSpPr>
        <p:spPr>
          <a:xfrm>
            <a:off x="9970008" y="5870448"/>
            <a:ext cx="201168" cy="128016"/>
          </a:xfrm>
          <a:prstGeom prst="rect">
            <a:avLst/>
          </a:prstGeom>
          <a:solidFill>
            <a:srgbClr val="FF00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28" name="Legend magenta"/>
          <p:cNvSpPr txBox="1"/>
          <p:nvPr/>
        </p:nvSpPr>
        <p:spPr>
          <a:xfrm>
            <a:off x="10244328" y="5806440"/>
            <a:ext cx="1450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1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restriction</a:t>
            </a:r>
            <a:endParaRPr lang="en-GB" sz="1150" dirty="0"/>
          </a:p>
        </p:txBody>
      </p:sp>
      <p:sp>
        <p:nvSpPr>
          <p:cNvPr id="29" name="Legend swatch white"/>
          <p:cNvSpPr/>
          <p:nvPr/>
        </p:nvSpPr>
        <p:spPr>
          <a:xfrm>
            <a:off x="6446520" y="6126480"/>
            <a:ext cx="201168" cy="128016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30" name="Legend white"/>
          <p:cNvSpPr txBox="1"/>
          <p:nvPr/>
        </p:nvSpPr>
        <p:spPr>
          <a:xfrm>
            <a:off x="6720840" y="6062472"/>
            <a:ext cx="1450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1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lung tumour</a:t>
            </a:r>
            <a:endParaRPr lang="en-GB" sz="1150" dirty="0"/>
          </a:p>
        </p:txBody>
      </p:sp>
      <p:sp>
        <p:nvSpPr>
          <p:cNvPr id="31" name="Legend swatch green"/>
          <p:cNvSpPr/>
          <p:nvPr/>
        </p:nvSpPr>
        <p:spPr>
          <a:xfrm>
            <a:off x="8208264" y="6126480"/>
            <a:ext cx="201168" cy="128016"/>
          </a:xfrm>
          <a:prstGeom prst="rect">
            <a:avLst/>
          </a:prstGeom>
          <a:solidFill>
            <a:srgbClr val="00DC00"/>
          </a:solidFill>
          <a:ln w="6350" cap="rnd">
            <a:solidFill>
              <a:srgbClr val="888888"/>
            </a:solidFill>
            <a:prstDash val="solid"/>
            <a:round/>
          </a:ln>
        </p:spPr>
      </p:sp>
      <p:sp>
        <p:nvSpPr>
          <p:cNvPr id="32" name="Legend green"/>
          <p:cNvSpPr txBox="1"/>
          <p:nvPr/>
        </p:nvSpPr>
        <p:spPr>
          <a:xfrm>
            <a:off x="8482584" y="6062472"/>
            <a:ext cx="1450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15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GB" sz="1150" dirty="0"/>
          </a:p>
        </p:txBody>
      </p:sp>
      <p:sp>
        <p:nvSpPr>
          <p:cNvPr id="33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8/12</a:t>
            </a:r>
            <a:endParaRPr lang="en-GB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Matrix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graphicFrame>
        <p:nvGraphicFramePr>
          <p:cNvPr id="4" name="Table 2 comparative matrix" descr="Comparative matrix of brain MRI features by histological subtype in the illustrated cases, with literature-expected patterns."/>
          <p:cNvGraphicFramePr>
            <a:graphicFrameLocks noGrp="1"/>
          </p:cNvGraphicFramePr>
          <p:nvPr/>
        </p:nvGraphicFramePr>
        <p:xfrm>
          <a:off x="457200" y="1188720"/>
          <a:ext cx="11247120" cy="2874074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1874520"/>
                <a:gridCol w="1645920"/>
                <a:gridCol w="1600200"/>
                <a:gridCol w="1600200"/>
                <a:gridCol w="3108960"/>
              </a:tblGrid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Adenocarcinoma (2 of 5 shown)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SCLC (2 of 3 shown)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LCNEC (n = 1)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 (n = 1)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Literature-expected pattern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shown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shown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shown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shown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SCLC: often multiple, 1–3 cm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[11,12]</a:t>
                      </a: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adenocarcinoma: variable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temporal; left medial frontal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frontoparietal (2/2)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frontal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cerebellar (posterior fossa)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Grey–white junction, cerebellum, watershed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[7,12]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Ring/heterogeneous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 or nodular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Cystic/necrotic, thick wall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Cystic, ring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NSCLC necrotic/ring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SCLC homogeneous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Peritumoral oedema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 (2/2)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 (2/2)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NSCLC: peripheral oedema common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01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DWI restriction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 (rim)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Variable; frequent in SCLC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about 55% of NSCLC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r>
                        <a:rPr lang="en-GB" sz="125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not histology-specific </a:t>
                      </a:r>
                      <a:r>
                        <a:rPr lang="en-GB" sz="1250" b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</a:t>
                      </a:r>
                      <a:endParaRPr lang="en-GB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Key message"/>
          <p:cNvSpPr txBox="1"/>
          <p:nvPr/>
        </p:nvSpPr>
        <p:spPr>
          <a:xfrm>
            <a:off x="457200" y="4245674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50" b="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Substantial overlap between subtypes: no single feature is pathognomonic. One lesion illustrated per case.</a:t>
            </a:r>
            <a:endParaRPr lang="en-GB" sz="1450" dirty="0"/>
          </a:p>
        </p:txBody>
      </p:sp>
      <p:pic>
        <p:nvPicPr>
          <p:cNvPr id="6" name="Figure A2_T1C" descr="ADC-2, axial T1 post-contrast MRI: yellow arrow marks a thick-walled ring-enhancing lesion in the left medial frontal lob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864" y="4629722"/>
            <a:ext cx="1554480" cy="1554480"/>
          </a:xfrm>
          <a:prstGeom prst="rect">
            <a:avLst/>
          </a:prstGeom>
        </p:spPr>
      </p:pic>
      <p:pic>
        <p:nvPicPr>
          <p:cNvPr id="7" name="Figure S1_T1C" descr="SCLC-2, axial T1 post-contrast MRI: yellow arrow marks a small ring-enhancing lesion in the right hemispher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360" y="4629722"/>
            <a:ext cx="1554480" cy="1554480"/>
          </a:xfrm>
          <a:prstGeom prst="rect">
            <a:avLst/>
          </a:prstGeom>
        </p:spPr>
      </p:pic>
      <p:pic>
        <p:nvPicPr>
          <p:cNvPr id="8" name="Figure L1_T1C" descr="LCNEC-1, axial T1 post-contrast MRI: yellow arrow marks a large cystic necrotic left frontal lesion with a thick nodular enhancing wal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856" y="4629722"/>
            <a:ext cx="1554480" cy="1554480"/>
          </a:xfrm>
          <a:prstGeom prst="rect">
            <a:avLst/>
          </a:prstGeom>
        </p:spPr>
      </p:pic>
      <p:pic>
        <p:nvPicPr>
          <p:cNvPr id="9" name="Figure Q1_T1C" descr="SCC-1, axial T1 post-contrast MRI: yellow arrow marks a large cystic necrotic left cerebellar lesion with an enhancing wall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352" y="4629722"/>
            <a:ext cx="1554480" cy="1554480"/>
          </a:xfrm>
          <a:prstGeom prst="rect">
            <a:avLst/>
          </a:prstGeom>
        </p:spPr>
      </p:pic>
      <p:sp>
        <p:nvSpPr>
          <p:cNvPr id="10" name="Figure caption"/>
          <p:cNvSpPr txBox="1"/>
          <p:nvPr/>
        </p:nvSpPr>
        <p:spPr>
          <a:xfrm>
            <a:off x="2794864" y="6211634"/>
            <a:ext cx="660196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125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T1+C montage: adenocarcinoma · SCLC · LCNEC · squamous cell carcinoma</a:t>
            </a:r>
            <a:endParaRPr lang="en-GB" sz="1250" dirty="0"/>
          </a:p>
        </p:txBody>
      </p:sp>
      <p:sp>
        <p:nvSpPr>
          <p:cNvPr id="11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9/12</a:t>
            </a:r>
            <a:endParaRPr lang="en-GB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4" name="Discussion text"/>
          <p:cNvSpPr txBox="1"/>
          <p:nvPr/>
        </p:nvSpPr>
        <p:spPr>
          <a:xfrm>
            <a:off x="457200" y="1188720"/>
            <a:ext cx="7040880" cy="5166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spcAft>
                <a:spcPts val="5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shapes the imaging phenotype, but overlap is large.</a:t>
            </a:r>
            <a:endParaRPr lang="en-GB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</a:t>
            </a:r>
            <a:endParaRPr lang="en-GB" sz="1400" dirty="0"/>
          </a:p>
          <a:p>
            <a:pPr marL="203200" indent="-20320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BM propensity among NSCLC; frequent in oncogene-driven disease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Marked vasogenic oedema plausibly reflects VEGF-mediated permeability.</a:t>
            </a:r>
            <a:endParaRPr lang="en-GB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SCLC/LCNEC</a:t>
            </a:r>
            <a:endParaRPr lang="en-GB" sz="1400" dirty="0"/>
          </a:p>
          <a:p>
            <a:pPr marL="203200" indent="-20320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proliferative index and early haematogenous spread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SCLC often shows multiple, small lesions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Contrast MRI is superior to CT for detection (staging, PCI)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Squamous cell carcinoma</a:t>
            </a:r>
            <a:endParaRPr lang="en-GB" sz="1400" dirty="0"/>
          </a:p>
          <a:p>
            <a:pPr marL="203200" indent="-20320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frequent BM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necrotic/cystic ring-enhancing lesions described.</a:t>
            </a:r>
            <a:endParaRPr lang="en-GB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series</a:t>
            </a:r>
            <a:endParaRPr lang="en-GB" sz="1400" dirty="0"/>
          </a:p>
          <a:p>
            <a:pPr marL="203200" indent="-20320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illustrated cases, SCLC primaries were peripheral, not central, with extensive brain oedema; LCNEC was cystic with little oedema. DWI restriction was frequent (5 of 6) but does not predict histology </a:t>
            </a:r>
            <a:r>
              <a:rPr lang="en-GB" sz="14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GB" sz="1400" dirty="0"/>
          </a:p>
          <a:p>
            <a:pPr marL="203200" indent="-20320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Meningioma, abscess, glioma, radionecrosis, second primary.</a:t>
            </a:r>
            <a:endParaRPr lang="en-GB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GB" sz="1400" dirty="0"/>
          </a:p>
          <a:p>
            <a:pPr marL="203200" indent="-20320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 (6 illustrated), retrospective, heterogeneous protocols, no inferential statistics.</a:t>
            </a:r>
            <a:endParaRPr lang="en-GB" sz="1400" dirty="0"/>
          </a:p>
        </p:txBody>
      </p:sp>
      <p:pic>
        <p:nvPicPr>
          <p:cNvPr id="5" name="Figure S2_T1C" descr="SCLC-1, axial T1 post-contrast MRI: yellow arrow marks a heterogeneously enhancing right paramedian lesion; green arrow marks an incidental meningioma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280160"/>
            <a:ext cx="3840480" cy="3840480"/>
          </a:xfrm>
          <a:prstGeom prst="rect">
            <a:avLst/>
          </a:prstGeom>
        </p:spPr>
      </p:pic>
      <p:sp>
        <p:nvSpPr>
          <p:cNvPr id="6" name="Figure caption"/>
          <p:cNvSpPr txBox="1"/>
          <p:nvPr/>
        </p:nvSpPr>
        <p:spPr>
          <a:xfrm>
            <a:off x="7818120" y="519379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200" b="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metastasis (yellow) vs incidental meningioma (green), SCLC-1</a:t>
            </a:r>
            <a:endParaRPr lang="en-GB" sz="1200" dirty="0"/>
          </a:p>
        </p:txBody>
      </p:sp>
      <p:sp>
        <p:nvSpPr>
          <p:cNvPr id="7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10/12</a:t>
            </a:r>
            <a:endParaRPr lang="en-GB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Clinical Take-Home Message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4" name="Take-home card 1"/>
          <p:cNvSpPr/>
          <p:nvPr/>
        </p:nvSpPr>
        <p:spPr>
          <a:xfrm>
            <a:off x="457200" y="1280160"/>
            <a:ext cx="6949440" cy="1051560"/>
          </a:xfrm>
          <a:prstGeom prst="roundRect">
            <a:avLst/>
          </a:prstGeom>
          <a:solidFill>
            <a:srgbClr val="16335C"/>
          </a:solidFill>
          <a:ln w="12700" cap="rnd">
            <a:solidFill>
              <a:srgbClr val="1C7293"/>
            </a:solidFill>
            <a:prstDash val="solid"/>
            <a:round/>
          </a:ln>
        </p:spPr>
      </p:sp>
      <p:sp>
        <p:nvSpPr>
          <p:cNvPr id="5" name="Take-home number 1"/>
          <p:cNvSpPr txBox="1"/>
          <p:nvPr/>
        </p:nvSpPr>
        <p:spPr>
          <a:xfrm>
            <a:off x="594360" y="1463040"/>
            <a:ext cx="640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3400" b="1" dirty="0">
                <a:solidFill>
                  <a:srgbClr val="F2B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GB" sz="3400" dirty="0"/>
          </a:p>
        </p:txBody>
      </p:sp>
      <p:sp>
        <p:nvSpPr>
          <p:cNvPr id="6" name="Take-home 1"/>
          <p:cNvSpPr txBox="1"/>
          <p:nvPr/>
        </p:nvSpPr>
        <p:spPr>
          <a:xfrm>
            <a:off x="1371600" y="1280160"/>
            <a:ext cx="58978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5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 multi-sequence MRI for lung cancer patients at staging and with new neurological symptoms </a:t>
            </a:r>
            <a:r>
              <a:rPr lang="en-GB" sz="1550" b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r>
              <a:rPr lang="en-GB" sz="15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550" dirty="0"/>
          </a:p>
        </p:txBody>
      </p:sp>
      <p:sp>
        <p:nvSpPr>
          <p:cNvPr id="7" name="Take-home card 2"/>
          <p:cNvSpPr/>
          <p:nvPr/>
        </p:nvSpPr>
        <p:spPr>
          <a:xfrm>
            <a:off x="457200" y="2514600"/>
            <a:ext cx="6949440" cy="1051560"/>
          </a:xfrm>
          <a:prstGeom prst="roundRect">
            <a:avLst/>
          </a:prstGeom>
          <a:solidFill>
            <a:srgbClr val="16335C"/>
          </a:solidFill>
          <a:ln w="12700" cap="rnd">
            <a:solidFill>
              <a:srgbClr val="1C7293"/>
            </a:solidFill>
            <a:prstDash val="solid"/>
            <a:round/>
          </a:ln>
        </p:spPr>
      </p:sp>
      <p:sp>
        <p:nvSpPr>
          <p:cNvPr id="8" name="Take-home number 2"/>
          <p:cNvSpPr txBox="1"/>
          <p:nvPr/>
        </p:nvSpPr>
        <p:spPr>
          <a:xfrm>
            <a:off x="594360" y="2697480"/>
            <a:ext cx="640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3400" b="1" dirty="0">
                <a:solidFill>
                  <a:srgbClr val="F2B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GB" sz="3400" dirty="0"/>
          </a:p>
        </p:txBody>
      </p:sp>
      <p:sp>
        <p:nvSpPr>
          <p:cNvPr id="9" name="Take-home 2"/>
          <p:cNvSpPr txBox="1"/>
          <p:nvPr/>
        </p:nvSpPr>
        <p:spPr>
          <a:xfrm>
            <a:off x="1371600" y="2514600"/>
            <a:ext cx="58978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5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lesion number, location, oedema and diffusion: they guide SRS, WBRT and surgery </a:t>
            </a:r>
            <a:r>
              <a:rPr lang="en-GB" sz="1550" b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[3,6]</a:t>
            </a:r>
            <a:r>
              <a:rPr lang="en-GB" sz="15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GB" sz="1550" dirty="0"/>
          </a:p>
        </p:txBody>
      </p:sp>
      <p:sp>
        <p:nvSpPr>
          <p:cNvPr id="10" name="Take-home card 3"/>
          <p:cNvSpPr/>
          <p:nvPr/>
        </p:nvSpPr>
        <p:spPr>
          <a:xfrm>
            <a:off x="457200" y="3749040"/>
            <a:ext cx="6949440" cy="1051560"/>
          </a:xfrm>
          <a:prstGeom prst="roundRect">
            <a:avLst/>
          </a:prstGeom>
          <a:solidFill>
            <a:srgbClr val="16335C"/>
          </a:solidFill>
          <a:ln w="12700" cap="rnd">
            <a:solidFill>
              <a:srgbClr val="1C7293"/>
            </a:solidFill>
            <a:prstDash val="solid"/>
            <a:round/>
          </a:ln>
        </p:spPr>
      </p:sp>
      <p:sp>
        <p:nvSpPr>
          <p:cNvPr id="11" name="Take-home number 3"/>
          <p:cNvSpPr txBox="1"/>
          <p:nvPr/>
        </p:nvSpPr>
        <p:spPr>
          <a:xfrm>
            <a:off x="594360" y="3931920"/>
            <a:ext cx="640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3400" b="1" dirty="0">
                <a:solidFill>
                  <a:srgbClr val="F2B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GB" sz="3400" dirty="0"/>
          </a:p>
        </p:txBody>
      </p:sp>
      <p:sp>
        <p:nvSpPr>
          <p:cNvPr id="12" name="Take-home 3"/>
          <p:cNvSpPr txBox="1"/>
          <p:nvPr/>
        </p:nvSpPr>
        <p:spPr>
          <a:xfrm>
            <a:off x="1371600" y="3749040"/>
            <a:ext cx="58978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5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Adenocarcinoma: look for conspicuous oedema. SCLC/neuroendocrine: look for many small lesions.</a:t>
            </a:r>
            <a:endParaRPr lang="en-GB" sz="1550" dirty="0"/>
          </a:p>
        </p:txBody>
      </p:sp>
      <p:sp>
        <p:nvSpPr>
          <p:cNvPr id="13" name="Take-home card 4"/>
          <p:cNvSpPr/>
          <p:nvPr/>
        </p:nvSpPr>
        <p:spPr>
          <a:xfrm>
            <a:off x="457200" y="4983480"/>
            <a:ext cx="6949440" cy="1051560"/>
          </a:xfrm>
          <a:prstGeom prst="roundRect">
            <a:avLst/>
          </a:prstGeom>
          <a:solidFill>
            <a:srgbClr val="16335C"/>
          </a:solidFill>
          <a:ln w="12700" cap="rnd">
            <a:solidFill>
              <a:srgbClr val="1C7293"/>
            </a:solidFill>
            <a:prstDash val="solid"/>
            <a:round/>
          </a:ln>
        </p:spPr>
      </p:sp>
      <p:sp>
        <p:nvSpPr>
          <p:cNvPr id="14" name="Take-home number 4"/>
          <p:cNvSpPr txBox="1"/>
          <p:nvPr/>
        </p:nvSpPr>
        <p:spPr>
          <a:xfrm>
            <a:off x="594360" y="5166360"/>
            <a:ext cx="640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GB" sz="3400" b="1" dirty="0">
                <a:solidFill>
                  <a:srgbClr val="F2B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GB" sz="3400" dirty="0"/>
          </a:p>
        </p:txBody>
      </p:sp>
      <p:sp>
        <p:nvSpPr>
          <p:cNvPr id="15" name="Take-home 4"/>
          <p:cNvSpPr txBox="1"/>
          <p:nvPr/>
        </p:nvSpPr>
        <p:spPr>
          <a:xfrm>
            <a:off x="1371600" y="4983480"/>
            <a:ext cx="58978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55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is histology-specific; beware mimics (e.g. meningioma) and correlate with pathology.</a:t>
            </a:r>
            <a:endParaRPr lang="en-GB" sz="1550" dirty="0"/>
          </a:p>
        </p:txBody>
      </p:sp>
      <p:pic>
        <p:nvPicPr>
          <p:cNvPr id="16" name="Figure Q1_T1C" descr="SCC-1, axial T1 post-contrast MRI: yellow arrow marks a large cystic necrotic left cerebellar lesion with an enhancing wal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80160"/>
            <a:ext cx="1874520" cy="1874520"/>
          </a:xfrm>
          <a:prstGeom prst="rect">
            <a:avLst/>
          </a:prstGeom>
        </p:spPr>
      </p:pic>
      <p:pic>
        <p:nvPicPr>
          <p:cNvPr id="17" name="Figure A2_T1C" descr="ADC-2, axial T1 post-contrast MRI: yellow arrow marks a thick-walled ring-enhancing lesion in the left medial frontal lob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1280160"/>
            <a:ext cx="1874520" cy="1874520"/>
          </a:xfrm>
          <a:prstGeom prst="rect">
            <a:avLst/>
          </a:prstGeom>
        </p:spPr>
      </p:pic>
      <p:pic>
        <p:nvPicPr>
          <p:cNvPr id="18" name="Figure S1_T1C" descr="SCLC-2, axial T1 post-contrast MRI: yellow arrow marks a small ring-enhancing lesion in the right hemisphe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46120"/>
            <a:ext cx="1874520" cy="1874520"/>
          </a:xfrm>
          <a:prstGeom prst="rect">
            <a:avLst/>
          </a:prstGeom>
        </p:spPr>
      </p:pic>
      <p:pic>
        <p:nvPicPr>
          <p:cNvPr id="19" name="Figure L1_T1C" descr="LCNEC-1, axial T1 post-contrast MRI: yellow arrow marks a large cystic necrotic left frontal lesion with a thick nodular enhancing wall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246120"/>
            <a:ext cx="1874520" cy="1874520"/>
          </a:xfrm>
          <a:prstGeom prst="rect">
            <a:avLst/>
          </a:prstGeom>
        </p:spPr>
      </p:pic>
      <p:sp>
        <p:nvSpPr>
          <p:cNvPr id="20" name="Tagline"/>
          <p:cNvSpPr txBox="1"/>
          <p:nvPr/>
        </p:nvSpPr>
        <p:spPr>
          <a:xfrm>
            <a:off x="7863840" y="534924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600" b="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Histology suggests, but does not predict, the MRI pattern.</a:t>
            </a:r>
            <a:endParaRPr lang="en-GB" sz="1600" dirty="0"/>
          </a:p>
        </p:txBody>
      </p:sp>
      <p:sp>
        <p:nvSpPr>
          <p:cNvPr id="21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11/12</a:t>
            </a:r>
            <a:endParaRPr lang="en-GB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Declarations</a:t>
            </a:r>
            <a:endParaRPr lang="en-GB" sz="3000" dirty="0"/>
          </a:p>
        </p:txBody>
      </p:sp>
      <p:sp>
        <p:nvSpPr>
          <p:cNvPr id="3" name="Accent dot"/>
          <p:cNvSpPr/>
          <p:nvPr/>
        </p:nvSpPr>
        <p:spPr>
          <a:xfrm>
            <a:off x="457200" y="932688"/>
            <a:ext cx="109728" cy="109728"/>
          </a:xfrm>
          <a:prstGeom prst="ellipse">
            <a:avLst/>
          </a:prstGeom>
          <a:solidFill>
            <a:srgbClr val="F2B632"/>
          </a:solidFill>
          <a:ln w="12700" cap="rnd">
            <a:solidFill>
              <a:srgbClr val="F2B632"/>
            </a:solidFill>
            <a:prstDash val="solid"/>
            <a:round/>
          </a:ln>
        </p:spPr>
      </p:sp>
      <p:sp>
        <p:nvSpPr>
          <p:cNvPr id="4" name="References"/>
          <p:cNvSpPr txBox="1"/>
          <p:nvPr/>
        </p:nvSpPr>
        <p:spPr>
          <a:xfrm>
            <a:off x="457200" y="1188720"/>
            <a:ext cx="7360920" cy="5166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Schouten LJ, et al. Incidence of brain metastases in a cohort of patients with carcinoma of the breast, colon, kidney, and lung and melanoma. Cancer 2002;94:2698–2705.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Nayak L, et al. Epidemiology of brain metastases. Curr Oncol Rep 2012;14:48–54.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Sperduto PW, et al. Survival in patients with brain metastases: summary report on the updated diagnosis-specific graded prognostic assessment and definition of the eligibility quotient. J Clin Oncol 2020;38:3773–3784.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Nicholson AG, et al. The 2021 WHO classification of lung tumors: impact of advances since 2015. J Thorac Oncol 2022;17:362–387.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Seute T, et al. Detection of brain metastases from small cell lung cancer: consequences of changing imaging techniques (CT versus MRI). Cancer 2008;112:1827–1834.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Rhun E, et al. EANO–ESMO clinical practice guidelines for diagnosis, treatment and follow-up of patients with brain metastasis from solid tumours. Ann Oncol 2021;32:1332–1347.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Fink KR, et al. Imaging of brain metastases. Surg Neurol Int 2013;4(Suppl 4):S209–S219.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Rangachari D, et al. Brain metastases in patients with EGFR-mutated or ALK-rearranged non-small-cell lung cancers. Lung Cancer 2015;88:108–111.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 WS, et al. Diffusion-weighted imaging of brain metastasis from lung cancer: correlation of MRI parameters with the histologic type and gene mutation status. AJNR Am J Neuroradiol 2018;39:273–279.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Mujoomdar A, et al. Clinical predictors of metastatic disease to the brain from non-small cell lung carcinoma: primary tumor size, cell type, and lymph node metastases. Radiology 2007;242:882–888.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D, et al. Magnetic resonance imaging characteristics of brain metastases in small cell lung cancer. Cancer Med 2023;12:15199–15206.</a:t>
            </a:r>
            <a:endParaRPr lang="en-GB" sz="1200" dirty="0"/>
          </a:p>
          <a:p>
            <a:pPr marL="274320" indent="-274320">
              <a:spcAft>
                <a:spcPts val="500"/>
              </a:spcAft>
              <a:buFont typeface="+mj-lt"/>
              <a:buAutoNum type="arabicPeriod"/>
            </a:pPr>
            <a:r>
              <a:rPr lang="en-GB" sz="12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Pomohaci D, et al. Magnetic resonance imaging characteristics of small cell and non-small cell lung cancer brain metastases: a retrospective study. J Med Life 2025;18:563–574.</a:t>
            </a:r>
            <a:endParaRPr lang="en-GB" sz="1200" dirty="0"/>
          </a:p>
        </p:txBody>
      </p:sp>
      <p:sp>
        <p:nvSpPr>
          <p:cNvPr id="5" name="Declarations panel"/>
          <p:cNvSpPr/>
          <p:nvPr/>
        </p:nvSpPr>
        <p:spPr>
          <a:xfrm>
            <a:off x="8092440" y="1188720"/>
            <a:ext cx="3639312" cy="3898923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 cap="rnd">
            <a:solidFill>
              <a:srgbClr val="1C7293"/>
            </a:solidFill>
            <a:prstDash val="solid"/>
            <a:round/>
          </a:ln>
        </p:spPr>
      </p:sp>
      <p:sp>
        <p:nvSpPr>
          <p:cNvPr id="6" name="Declarations"/>
          <p:cNvSpPr txBox="1"/>
          <p:nvPr/>
        </p:nvSpPr>
        <p:spPr>
          <a:xfrm>
            <a:off x="8275320" y="1371600"/>
            <a:ext cx="3273552" cy="35331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</a:t>
            </a:r>
            <a:endParaRPr lang="en-GB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GB" sz="13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declare no conflict of interest.</a:t>
            </a:r>
            <a:endParaRPr lang="en-GB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GB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GB" sz="13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</a:t>
            </a:r>
            <a:endParaRPr lang="en-GB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consent</a:t>
            </a:r>
            <a:endParaRPr lang="en-GB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GB" sz="13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committee approval; written informed consent for image publication obtained from all patients.</a:t>
            </a:r>
            <a:endParaRPr lang="en-GB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origin</a:t>
            </a:r>
            <a:endParaRPr lang="en-GB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GB" sz="13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Authors' own clinical material, anonymised; arrows and labels added by the authors.</a:t>
            </a:r>
            <a:endParaRPr lang="en-GB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GB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GB" sz="1300" b="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[name, email]</a:t>
            </a:r>
            <a:endParaRPr lang="en-GB" sz="1300" dirty="0"/>
          </a:p>
        </p:txBody>
      </p:sp>
      <p:sp>
        <p:nvSpPr>
          <p:cNvPr id="7" name="Footer"/>
          <p:cNvSpPr txBox="1"/>
          <p:nvPr/>
        </p:nvSpPr>
        <p:spPr>
          <a:xfrm>
            <a:off x="7589520" y="64922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 marL="0" indent="0">
              <a:buNone/>
            </a:pPr>
            <a:r>
              <a:rPr lang="en-GB" sz="1000" b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2027 · EPOS™   |   12/12</a:t>
            </a:r>
            <a:endParaRPr lang="en-GB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Cambria</vt:lpstr>
      <vt:lpstr>Office Theme</vt:lpstr>
      <vt:lpstr>From Lung to Brain:</vt:lpstr>
      <vt:lpstr>Purpose &amp; Objectives</vt:lpstr>
      <vt:lpstr>Introduction &amp; Clinical Background</vt:lpstr>
      <vt:lpstr>Materials &amp; Methods</vt:lpstr>
      <vt:lpstr>Primary Lung Tumour Profiles</vt:lpstr>
      <vt:lpstr>Neuroimaging Spectrum: Adenocarcinoma Brain Metastases</vt:lpstr>
      <vt:lpstr>Neuroimaging Spectrum: Squamous Cell Carcinoma Brain Metastases</vt:lpstr>
      <vt:lpstr>Neuroimaging Spectrum: SCLC &amp; Neuroendocrine Brain Metastases</vt:lpstr>
      <vt:lpstr>Comparative Matrix</vt:lpstr>
      <vt:lpstr>Discussion</vt:lpstr>
      <vt:lpstr>Conclusion &amp; Clinical Take-Home Message</vt:lpstr>
      <vt:lpstr>References &amp; Declarations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Lung to Brain: Linking Chest CT Tumour Characteristics with Brain MRI Metastatic Patterns in Lung Cancer</dc:title>
  <dc:subject>ECR 2027 EPOS poster</dc:subject>
  <dc:creator/>
  <cp:lastModifiedBy/>
  <cp:revision>1</cp:revision>
  <dcterms:created xsi:type="dcterms:W3CDTF">2026-09-30T18:29:54Z</dcterms:created>
  <dcterms:modified xsi:type="dcterms:W3CDTF">2026-09-30T19:28:04Z</dcterms:modified>
  <cp:keywords>brain metastases; lung cancer; adenocarcinoma; squamous cell; SCLC; MRI; CT</cp:keywords>
  <dc:description/>
</cp:coreProperties>
</file>